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335" r:id="rId5"/>
    <p:sldId id="336" r:id="rId6"/>
    <p:sldId id="337" r:id="rId7"/>
    <p:sldId id="338" r:id="rId8"/>
    <p:sldId id="339" r:id="rId9"/>
    <p:sldId id="349" r:id="rId10"/>
    <p:sldId id="348" r:id="rId11"/>
    <p:sldId id="350" r:id="rId12"/>
    <p:sldId id="340" r:id="rId13"/>
    <p:sldId id="341" r:id="rId14"/>
    <p:sldId id="351" r:id="rId15"/>
    <p:sldId id="352" r:id="rId16"/>
    <p:sldId id="343" r:id="rId17"/>
    <p:sldId id="353" r:id="rId18"/>
    <p:sldId id="354" r:id="rId19"/>
    <p:sldId id="355" r:id="rId20"/>
    <p:sldId id="356" r:id="rId21"/>
    <p:sldId id="357" r:id="rId22"/>
    <p:sldId id="346" r:id="rId23"/>
    <p:sldId id="347" r:id="rId24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eu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94" autoAdjust="0"/>
  </p:normalViewPr>
  <p:slideViewPr>
    <p:cSldViewPr snapToGrid="0">
      <p:cViewPr>
        <p:scale>
          <a:sx n="77" d="100"/>
          <a:sy n="77" d="100"/>
        </p:scale>
        <p:origin x="43" y="91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36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9299E6C3-1816-434C-BD42-F84DFC8313FC}" type="datetime1">
              <a:rPr lang="fr-FR" smtClean="0"/>
              <a:t>31/01/2026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9E9D563E-BCB2-465B-8A3C-AC86CE64F69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6FED21CE-1C69-4866-AF1B-5CB3C50AE843}" type="datetime1">
              <a:rPr lang="fr-FR" smtClean="0"/>
              <a:t>31/01/2026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8B990660-4B7D-4C11-96DB-B19FFA8CA93C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8B990660-4B7D-4C11-96DB-B19FFA8CA93C}" type="slidenum">
              <a:rPr lang="fr-FR" noProof="0" smtClean="0"/>
              <a:t>1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58978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8B990660-4B7D-4C11-96DB-B19FFA8CA93C}" type="slidenum">
              <a:rPr lang="fr-FR" noProof="0" smtClean="0"/>
              <a:t>2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719333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8B990660-4B7D-4C11-96DB-B19FFA8CA93C}" type="slidenum">
              <a:rPr lang="fr-FR" noProof="0" smtClean="0"/>
              <a:t>3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42545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8B990660-4B7D-4C11-96DB-B19FFA8CA93C}" type="slidenum">
              <a:rPr lang="fr-FR" noProof="0" smtClean="0"/>
              <a:t>4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091274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8B990660-4B7D-4C11-96DB-B19FFA8CA93C}" type="slidenum">
              <a:rPr lang="fr-FR" noProof="0" smtClean="0"/>
              <a:t>5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006147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F405D-0A88-563A-EE45-27D2D542A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C05E793C-51C8-6BC0-90CC-9F7C4CE8B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D5D6879-1172-A0B5-38C5-03C6715B0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B2A87A-403B-CB2E-28F2-B2A3101DB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8B990660-4B7D-4C11-96DB-B19FFA8CA93C}" type="slidenum">
              <a:rPr lang="fr-FR" noProof="0" smtClean="0"/>
              <a:t>6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078488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2B1D9-35B8-E8FD-804D-4C0F6B61F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A7034A72-1519-7964-E1EA-212BB384A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4EF6742-4DC8-368C-C29D-87CF2FE78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583814-8E1F-1A54-7EE8-A6AEFB1C1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8B990660-4B7D-4C11-96DB-B19FFA8CA93C}" type="slidenum">
              <a:rPr lang="fr-FR" noProof="0" smtClean="0"/>
              <a:t>7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599512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D32BA-7E47-C642-039C-1CFA035C8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438EF1E8-0E26-0B88-5CA1-F77762CD1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AE0F2A6-A7F3-6986-5B34-0F895F54D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28B7BD-029D-7DA0-12D7-BB1B1EEBD1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8B990660-4B7D-4C11-96DB-B19FFA8CA93C}" type="slidenum">
              <a:rPr lang="fr-FR" noProof="0" smtClean="0"/>
              <a:t>8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6965104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8B990660-4B7D-4C11-96DB-B19FFA8CA93C}" type="slidenum">
              <a:rPr lang="fr-FR" noProof="0" smtClean="0"/>
              <a:t>9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6892526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8B990660-4B7D-4C11-96DB-B19FFA8CA93C}" type="slidenum">
              <a:rPr lang="fr-FR" noProof="0" smtClean="0"/>
              <a:t>10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574796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04EB0-A711-5551-6CE8-BEFE4D184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14F46D16-45B5-D3D9-6208-156A2A30F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6AA6928-DFB9-D99B-5EDF-3E9923DBC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C00A61-7975-1A2B-5297-9ECCC49194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8B990660-4B7D-4C11-96DB-B19FFA8CA93C}" type="slidenum">
              <a:rPr lang="fr-FR" noProof="0" smtClean="0"/>
              <a:t>11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5937894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03C0D-3A9C-60AE-F745-877143357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49386F91-ECC0-B7E6-0656-F4F4A826F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DA4E7AF-B088-5EB6-190A-6F009F13C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CF9ECB-B2D5-072D-14EA-A9AF179D2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8B990660-4B7D-4C11-96DB-B19FFA8CA93C}" type="slidenum">
              <a:rPr lang="fr-FR" noProof="0" smtClean="0"/>
              <a:t>12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4600275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8B990660-4B7D-4C11-96DB-B19FFA8CA93C}" type="slidenum">
              <a:rPr lang="fr-FR" noProof="0" smtClean="0"/>
              <a:t>13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122968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52A8C-54E6-869B-844E-9430E5CC8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9B3779EC-30E2-4400-8535-556F0233B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BCE938A-CE3D-0192-397C-68720FFAA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73DEB0-7A61-D8A8-410E-24373C791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8B990660-4B7D-4C11-96DB-B19FFA8CA93C}" type="slidenum">
              <a:rPr lang="fr-FR" noProof="0" smtClean="0"/>
              <a:t>14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8049216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A0409-B3EE-7040-6D28-0C1C1CAD5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FEB4E79D-95B2-E555-66D7-89E294865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246A825-91BD-C371-EB50-07D098D1D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516C24-B31D-E24A-1051-15864C587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8B990660-4B7D-4C11-96DB-B19FFA8CA93C}" type="slidenum">
              <a:rPr lang="fr-FR" noProof="0" smtClean="0"/>
              <a:t>15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0181104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1B911-FA18-0B11-9E99-D90F552C4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62849E66-725F-BD90-96ED-222A7C2F9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9446A24-B84D-0997-7CDE-37484F7F7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6EE073-2D67-A103-B4D9-B4CEA5293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8B990660-4B7D-4C11-96DB-B19FFA8CA93C}" type="slidenum">
              <a:rPr lang="fr-FR" noProof="0" smtClean="0"/>
              <a:t>16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2549853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26E92-EAE3-7E54-8CC1-4669569E3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9C2B39B0-E0EE-857E-A0D6-5F5687F430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BEE6CA7-94A6-C509-8BEC-B703DC8B9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23388B-1813-41B7-5BED-66822A838B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8B990660-4B7D-4C11-96DB-B19FFA8CA93C}" type="slidenum">
              <a:rPr lang="fr-FR" noProof="0" smtClean="0"/>
              <a:t>17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4301620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85ACE-27B4-5848-F109-782AED0BB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C1F28488-34B2-CFC4-A1B6-D9CA45FF7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CDD6425-D1C1-89B4-7A84-6CE60C697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09B841B-38FC-C109-D563-2FBA36386C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8B990660-4B7D-4C11-96DB-B19FFA8CA93C}" type="slidenum">
              <a:rPr lang="fr-FR" noProof="0" smtClean="0"/>
              <a:t>18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6647166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8B990660-4B7D-4C11-96DB-B19FFA8CA93C}" type="slidenum">
              <a:rPr lang="fr-FR" noProof="0" smtClean="0"/>
              <a:t>19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5978841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8B990660-4B7D-4C11-96DB-B19FFA8CA93C}" type="slidenum">
              <a:rPr lang="fr-FR" noProof="0" smtClean="0"/>
              <a:t>20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845341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rtlCol="0" anchor="b">
            <a:normAutofit/>
          </a:bodyPr>
          <a:lstStyle>
            <a:lvl1pPr algn="l">
              <a:defRPr lang="fr-FR" sz="4000" b="1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pic>
        <p:nvPicPr>
          <p:cNvPr id="4" name="Graphisme 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rtlCol="0" anchor="b">
            <a:normAutofit/>
          </a:bodyPr>
          <a:lstStyle>
            <a:lvl1pPr>
              <a:defRPr lang="fr-FR" sz="280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fr-FR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fr-FR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fr-FR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fr-FR" sz="20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 </a:t>
            </a:r>
          </a:p>
          <a:p>
            <a:pPr lvl="3" rtl="0"/>
            <a:r>
              <a:rPr lang="fr-FR"/>
              <a:t>Quatrième niveau </a:t>
            </a:r>
          </a:p>
          <a:p>
            <a:pPr lvl="4" rtl="0"/>
            <a:r>
              <a:rPr lang="fr-FR"/>
              <a:t>Cinquième niveau </a:t>
            </a:r>
          </a:p>
          <a:p>
            <a:pPr lvl="0" rtl="0"/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fr-F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fr-FR"/>
            </a:lvl1pPr>
          </a:lstStyle>
          <a:p>
            <a:pPr rtl="0"/>
            <a:r>
              <a:rPr lang="fr-FR"/>
              <a:t>Titre de Présentation</a:t>
            </a:r>
          </a:p>
        </p:txBody>
      </p:sp>
      <p:pic>
        <p:nvPicPr>
          <p:cNvPr id="9" name="Graphisme 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section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fr-FR" sz="400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fr-FR" sz="400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 rtlCol="0">
            <a:normAutofit/>
          </a:bodyPr>
          <a:lstStyle>
            <a:lvl1pPr marL="0" indent="0">
              <a:buNone/>
              <a:defRPr lang="fr-FR" sz="2800"/>
            </a:lvl1pPr>
            <a:lvl2pPr marL="457200" indent="0">
              <a:buNone/>
              <a:defRPr lang="fr-FR" sz="2400"/>
            </a:lvl2pPr>
            <a:lvl3pPr marL="914400" indent="0">
              <a:buNone/>
              <a:defRPr lang="fr-FR" sz="2000"/>
            </a:lvl3pPr>
            <a:lvl4pPr marL="1371600" indent="0">
              <a:buNone/>
              <a:defRPr lang="fr-FR" sz="1800"/>
            </a:lvl4pPr>
            <a:lvl5pPr marL="1828800" indent="0">
              <a:buNone/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rtlCol="0" anchor="b">
            <a:normAutofit/>
          </a:bodyPr>
          <a:lstStyle>
            <a:lvl1pPr>
              <a:defRPr lang="fr-FR" sz="40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675" name="Espace réservé du texte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buNone/>
              <a:defRPr lang="fr-FR" sz="2800"/>
            </a:lvl1pPr>
            <a:lvl2pPr marL="457200" indent="0">
              <a:lnSpc>
                <a:spcPts val="2400"/>
              </a:lnSpc>
              <a:buNone/>
              <a:defRPr lang="fr-FR" sz="2000"/>
            </a:lvl2pPr>
            <a:lvl3pPr marL="914400" indent="0">
              <a:lnSpc>
                <a:spcPts val="2400"/>
              </a:lnSpc>
              <a:buNone/>
              <a:defRPr lang="fr-FR" sz="2000"/>
            </a:lvl3pPr>
            <a:lvl4pPr marL="1371600" indent="0">
              <a:lnSpc>
                <a:spcPts val="2400"/>
              </a:lnSpc>
              <a:buNone/>
              <a:defRPr lang="fr-FR" sz="2000"/>
            </a:lvl4pPr>
            <a:lvl5pPr marL="1828800" indent="0">
              <a:lnSpc>
                <a:spcPts val="2400"/>
              </a:lnSpc>
              <a:buNone/>
              <a:defRPr lang="fr-FR" sz="2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pic>
        <p:nvPicPr>
          <p:cNvPr id="7" name="Graphisme 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fr-FR" sz="280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fr-FR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fr-FR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fr-FR"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fr-FR"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fr-FR" sz="2000"/>
            </a:lvl5pPr>
            <a:lvl6pPr marL="1600200">
              <a:defRPr lang="fr-FR"/>
            </a:lvl6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4" rtl="0"/>
            <a:r>
              <a:rPr lang="fr-FR"/>
              <a:t>Quatrième niveau</a:t>
            </a:r>
          </a:p>
          <a:p>
            <a:pPr lvl="5" rtl="0"/>
            <a:r>
              <a:rPr lang="fr-FR"/>
              <a:t>Cinquième niveau</a:t>
            </a:r>
          </a:p>
        </p:txBody>
      </p:sp>
      <p:sp>
        <p:nvSpPr>
          <p:cNvPr id="11" name="Espace réservé du contenu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fr-FR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fr-FR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fr-FR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fr-FR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fr-FR" sz="200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fr-F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fr-FR"/>
            </a:lvl1pPr>
          </a:lstStyle>
          <a:p>
            <a:pPr rtl="0"/>
            <a:r>
              <a:rPr lang="fr-FR"/>
              <a:t>Titre de Présentation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fr-FR" sz="280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fr-FR"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lang="fr-FR"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lang="fr-FR"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lang="fr-FR"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lang="fr-FR" sz="200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1" name="Espace réservé du contenu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fr-FR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fr-FR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fr-FR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fr-FR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fr-FR" sz="200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fr-F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fr-FR"/>
            </a:lvl1pPr>
          </a:lstStyle>
          <a:p>
            <a:pPr rtl="0"/>
            <a:r>
              <a:rPr lang="fr-FR"/>
              <a:t>Titre de Présentation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et contenu du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pic>
        <p:nvPicPr>
          <p:cNvPr id="9" name="Graphisme 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fr-FR" sz="280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fr-FR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fr-FR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fr-FR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fr-FR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fr-FR" sz="14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fr-F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fr-FR" sz="280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fr-FR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fr-FR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fr-FR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fr-FR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fr-FR" sz="14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 rtlCol="0"/>
          <a:lstStyle>
            <a:lvl1pPr>
              <a:spcBef>
                <a:spcPts val="0"/>
              </a:spcBef>
              <a:spcAft>
                <a:spcPts val="1200"/>
              </a:spcAft>
              <a:defRPr lang="fr-FR"/>
            </a:lvl1pPr>
            <a:lvl2pPr>
              <a:spcBef>
                <a:spcPts val="0"/>
              </a:spcBef>
              <a:spcAft>
                <a:spcPts val="600"/>
              </a:spcAft>
              <a:defRPr lang="fr-FR"/>
            </a:lvl2pPr>
            <a:lvl3pPr>
              <a:spcBef>
                <a:spcPts val="0"/>
              </a:spcBef>
              <a:spcAft>
                <a:spcPts val="600"/>
              </a:spcAft>
              <a:defRPr lang="fr-FR"/>
            </a:lvl3pPr>
            <a:lvl4pPr>
              <a:spcBef>
                <a:spcPts val="0"/>
              </a:spcBef>
              <a:spcAft>
                <a:spcPts val="600"/>
              </a:spcAft>
              <a:defRPr lang="fr-FR" sz="2000"/>
            </a:lvl4pPr>
            <a:lvl5pPr>
              <a:spcBef>
                <a:spcPts val="0"/>
              </a:spcBef>
              <a:spcAft>
                <a:spcPts val="600"/>
              </a:spcAft>
              <a:defRPr lang="fr-FR" sz="200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fr-F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sme 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fr-FR" sz="280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1" name="Espace réservé du contenu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fr-FR"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fr-FR"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fr-FR"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fr-FR" sz="200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fr-FR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fr-FR"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fr-FR"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fr-FR"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fr-FR" sz="200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fr-F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fr-FR"/>
            </a:lvl1pPr>
          </a:lstStyle>
          <a:p>
            <a:pPr rtl="0"/>
            <a:r>
              <a:rPr lang="fr-FR"/>
              <a:t>Titre de Présentation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fr-FR" sz="280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1" name="Espace réservé du contenu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fr-FR"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fr-FR"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fr-FR"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fr-FR" sz="200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fr-F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fr-FR"/>
            </a:lvl1pPr>
          </a:lstStyle>
          <a:p>
            <a:pPr rtl="0"/>
            <a:r>
              <a:rPr lang="fr-FR"/>
              <a:t>Titre de Présentation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sme 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rtlCol="0" anchor="b">
            <a:normAutofit/>
          </a:bodyPr>
          <a:lstStyle>
            <a:lvl1pPr>
              <a:defRPr lang="fr-FR" sz="400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fr-FR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fr-FR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fr-FR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fr-FR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fr-FR" sz="20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 </a:t>
            </a:r>
          </a:p>
          <a:p>
            <a:pPr lvl="3" rtl="0"/>
            <a:r>
              <a:rPr lang="fr-FR"/>
              <a:t>Quatrième niveau </a:t>
            </a:r>
          </a:p>
          <a:p>
            <a:pPr lvl="4" rtl="0"/>
            <a:r>
              <a:rPr lang="fr-FR"/>
              <a:t>Cinquième niveau </a:t>
            </a:r>
          </a:p>
          <a:p>
            <a:pPr lvl="0"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rtlCol="0" anchor="b">
            <a:normAutofit/>
          </a:bodyPr>
          <a:lstStyle>
            <a:lvl1pPr>
              <a:defRPr lang="fr-FR" sz="40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grpSp>
        <p:nvGrpSpPr>
          <p:cNvPr id="815" name="Groupe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Titre de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000" b="1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1618881"/>
            <a:ext cx="5221224" cy="3056343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en-US" dirty="0" err="1"/>
              <a:t>Qualité</a:t>
            </a:r>
            <a:r>
              <a:rPr lang="en-US" dirty="0"/>
              <a:t> des explications </a:t>
            </a:r>
            <a:r>
              <a:rPr lang="en-US" dirty="0" err="1"/>
              <a:t>en</a:t>
            </a:r>
            <a:r>
              <a:rPr lang="en-US" dirty="0"/>
              <a:t> Deep Neural Networks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Ordre du jour 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8379" y="2753614"/>
            <a:ext cx="8324089" cy="3493008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Introduction</a:t>
            </a:r>
          </a:p>
          <a:p>
            <a:pPr rtl="0"/>
            <a:r>
              <a:rPr lang="fr-FR" dirty="0"/>
              <a:t>Le problème</a:t>
            </a:r>
          </a:p>
          <a:p>
            <a:pPr rtl="0"/>
            <a:r>
              <a:rPr lang="fr-FR" dirty="0"/>
              <a:t>Les métriques proposées</a:t>
            </a:r>
          </a:p>
          <a:p>
            <a:pPr rtl="0"/>
            <a:r>
              <a:rPr lang="fr-FR" dirty="0"/>
              <a:t>Les Démos</a:t>
            </a:r>
          </a:p>
          <a:p>
            <a:pPr rtl="0"/>
            <a:r>
              <a:rPr lang="fr-FR" dirty="0"/>
              <a:t>Conclusion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B5CEABB6-07DC-46E8-9B57-56EC44A396E5}" type="slidenum">
              <a:rPr lang="fr-FR" smtClean="0"/>
              <a:pPr/>
              <a:t>2</a:t>
            </a:fld>
            <a:endParaRPr lang="fr-FR" dirty="0"/>
          </a:p>
        </p:txBody>
      </p:sp>
      <p:pic>
        <p:nvPicPr>
          <p:cNvPr id="5" name="Image 4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5AB878DC-5221-435D-9542-605E33DC5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327" y="2080472"/>
            <a:ext cx="6061675" cy="348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5BA0C7-4B10-03D7-2211-750D1F9E5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063" y="-2101512"/>
            <a:ext cx="5864352" cy="362102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Introduction</a:t>
            </a:r>
          </a:p>
        </p:txBody>
      </p:sp>
      <p:pic>
        <p:nvPicPr>
          <p:cNvPr id="6" name="Espace réservé pour une image  5" descr="Une image contenant texte, capture d’écran, Police, lettre&#10;&#10;Le contenu généré par l’IA peut être incorrect.">
            <a:extLst>
              <a:ext uri="{FF2B5EF4-FFF2-40B4-BE49-F238E27FC236}">
                <a16:creationId xmlns:a16="http://schemas.microsoft.com/office/drawing/2014/main" id="{686E1836-AF57-83D1-7069-8BD048A2AEA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5240" r="5240"/>
          <a:stretch/>
        </p:blipFill>
        <p:spPr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434F6B1-90AE-B90E-EA78-FFBD61D83606}"/>
              </a:ext>
            </a:extLst>
          </p:cNvPr>
          <p:cNvSpPr txBox="1"/>
          <p:nvPr/>
        </p:nvSpPr>
        <p:spPr>
          <a:xfrm>
            <a:off x="522514" y="2140299"/>
            <a:ext cx="63907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/>
              <a:t>Définition d’interprétabilité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L’incomplétude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Les manières d’évaluer la qualité de l’interprétabilité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Les attentes des humains</a:t>
            </a:r>
          </a:p>
        </p:txBody>
      </p:sp>
    </p:spTree>
    <p:extLst>
      <p:ext uri="{BB962C8B-B14F-4D97-AF65-F5344CB8AC3E}">
        <p14:creationId xmlns:p14="http://schemas.microsoft.com/office/powerpoint/2010/main" val="3786907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C9DDD8-3394-6FB2-960C-451DEBD7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0" y="-2615577"/>
            <a:ext cx="5864352" cy="362102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Le problème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1D6AA66-EC20-FCAE-04B0-6BEB18463C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97909" y="1990842"/>
            <a:ext cx="5864225" cy="4867158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457200" indent="-457200" rtl="0">
              <a:buFontTx/>
              <a:buChar char="-"/>
            </a:pPr>
            <a:r>
              <a:rPr lang="fr-FR" dirty="0"/>
              <a:t>Les métriques d’interprétabilité peuvent être trompeuses</a:t>
            </a:r>
          </a:p>
          <a:p>
            <a:pPr marL="457200" indent="-457200" rtl="0">
              <a:buFontTx/>
              <a:buChar char="-"/>
            </a:pPr>
            <a:endParaRPr lang="fr-FR" dirty="0"/>
          </a:p>
          <a:p>
            <a:pPr marL="457200" indent="-457200" rtl="0">
              <a:buFontTx/>
              <a:buChar char="-"/>
            </a:pPr>
            <a:endParaRPr lang="fr-FR" dirty="0"/>
          </a:p>
          <a:p>
            <a:pPr marL="457200" indent="-457200" rtl="0">
              <a:buFontTx/>
              <a:buChar char="-"/>
            </a:pPr>
            <a:r>
              <a:rPr lang="fr-FR" dirty="0"/>
              <a:t>Les métriques d’évaluation d’interprétabilité peuvent aussi être trompeuses</a:t>
            </a:r>
          </a:p>
        </p:txBody>
      </p:sp>
      <p:pic>
        <p:nvPicPr>
          <p:cNvPr id="20" name="Espace réservé pour une image  19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A838F405-533E-C802-72CF-653D7CAA014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9383" r="9383"/>
          <a:stretch/>
        </p:blipFill>
        <p:spPr>
          <a:xfrm>
            <a:off x="-15873" y="-15875"/>
            <a:ext cx="4735358" cy="660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16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9165336" cy="132651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Le problème : Métriques d’interprétabilité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2 tests : - Randomisation des poids</a:t>
            </a:r>
          </a:p>
          <a:p>
            <a:pPr marL="0" indent="0">
              <a:buNone/>
            </a:pPr>
            <a:r>
              <a:rPr lang="fr-FR" dirty="0"/>
              <a:t>	    - Randomisation des labels</a:t>
            </a:r>
          </a:p>
          <a:p>
            <a:pPr rtl="0"/>
            <a:r>
              <a:rPr lang="fr-FR" dirty="0"/>
              <a:t>Les méthodes évaluées :</a:t>
            </a:r>
          </a:p>
          <a:p>
            <a:pPr rtl="0"/>
            <a:endParaRPr lang="fr-FR" dirty="0"/>
          </a:p>
          <a:p>
            <a:pPr marL="0" indent="0" rtl="0">
              <a:buNone/>
            </a:pPr>
            <a:endParaRPr lang="fr-FR" dirty="0"/>
          </a:p>
          <a:p>
            <a:pPr marL="914400" lvl="2" indent="0">
              <a:buNone/>
            </a:pPr>
            <a:r>
              <a:rPr lang="fr-FR" dirty="0"/>
              <a:t>  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B5CEABB6-07DC-46E8-9B57-56EC44A396E5}" type="slidenum">
              <a:rPr lang="fr-FR" smtClean="0"/>
              <a:pPr/>
              <a:t>5</a:t>
            </a:fld>
            <a:endParaRPr lang="fr-FR" dirty="0"/>
          </a:p>
        </p:txBody>
      </p:sp>
      <p:pic>
        <p:nvPicPr>
          <p:cNvPr id="9" name="Image 8" descr="Une image contenant texte, capture d’écran, Police, lettre&#10;&#10;Le contenu généré par l’IA peut être incorrect.">
            <a:extLst>
              <a:ext uri="{FF2B5EF4-FFF2-40B4-BE49-F238E27FC236}">
                <a16:creationId xmlns:a16="http://schemas.microsoft.com/office/drawing/2014/main" id="{DD0E2A51-F9D2-687D-051E-5FB6B8FD0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397" y="1844400"/>
            <a:ext cx="5906646" cy="3632758"/>
          </a:xfrm>
          <a:prstGeom prst="rect">
            <a:avLst/>
          </a:prstGeom>
        </p:spPr>
      </p:pic>
      <p:pic>
        <p:nvPicPr>
          <p:cNvPr id="6" name="Image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2157D4A1-6763-8328-4A57-C475361B1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387" y="3514704"/>
            <a:ext cx="5056217" cy="308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C98B5-E952-15C8-1CE1-A461304A4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3E9129-7D1C-3F60-64D3-0A748C8D3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9165336" cy="132651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Le problème : Métriques d’interprétabilité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04BD49B-5312-234A-4F7F-CADD2EF9AF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471284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Les résultats : </a:t>
            </a:r>
          </a:p>
          <a:p>
            <a:pPr marL="0" indent="0" rtl="0">
              <a:buNone/>
            </a:pPr>
            <a:r>
              <a:rPr lang="fr-FR" dirty="0"/>
              <a:t>				- Test 1 :</a:t>
            </a:r>
          </a:p>
          <a:p>
            <a:pPr rtl="0"/>
            <a:endParaRPr lang="fr-FR" dirty="0"/>
          </a:p>
          <a:p>
            <a:pPr rtl="0"/>
            <a:endParaRPr lang="fr-FR" dirty="0"/>
          </a:p>
          <a:p>
            <a:pPr marL="0" indent="0" rtl="0">
              <a:buNone/>
            </a:pPr>
            <a:endParaRPr lang="fr-FR" dirty="0"/>
          </a:p>
          <a:p>
            <a:pPr marL="914400" lvl="2" indent="0">
              <a:buNone/>
            </a:pPr>
            <a:r>
              <a:rPr lang="fr-FR" dirty="0"/>
              <a:t>  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5B1F308-6D3F-D863-698A-21830C008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B5CEABB6-07DC-46E8-9B57-56EC44A396E5}" type="slidenum">
              <a:rPr lang="fr-FR" smtClean="0"/>
              <a:pPr rtl="0"/>
              <a:t>6</a:t>
            </a:fld>
            <a:endParaRPr lang="fr-FR" dirty="0"/>
          </a:p>
        </p:txBody>
      </p:sp>
      <p:pic>
        <p:nvPicPr>
          <p:cNvPr id="7" name="Image 6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F014430F-9E80-0CB2-49D7-F5B895475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732" y="1399032"/>
            <a:ext cx="6282793" cy="3367577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C39EA4D-1072-4203-6FB7-11CA4C7BCAA1}"/>
              </a:ext>
            </a:extLst>
          </p:cNvPr>
          <p:cNvSpPr txBox="1"/>
          <p:nvPr/>
        </p:nvSpPr>
        <p:spPr>
          <a:xfrm>
            <a:off x="561934" y="4581943"/>
            <a:ext cx="3805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- Test 2</a:t>
            </a:r>
          </a:p>
        </p:txBody>
      </p:sp>
      <p:pic>
        <p:nvPicPr>
          <p:cNvPr id="11" name="Image 10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5AB79618-30D5-7D9F-16F0-F12086F46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4990" y="3524123"/>
            <a:ext cx="3568893" cy="308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3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0E83-2B1A-13EB-600E-00C201C6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5348C0-8365-9B8D-F041-6958D44E6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9165336" cy="132651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Le problème : Métriques D’évaluation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586F161-B55F-EDDC-D5FB-EDF7680749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AOPC (Area Over the Perturbation </a:t>
            </a:r>
            <a:r>
              <a:rPr lang="fr-FR" dirty="0" err="1"/>
              <a:t>Curve</a:t>
            </a:r>
            <a:r>
              <a:rPr lang="fr-FR" dirty="0"/>
              <a:t>) 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Fidélité : 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95F8629-A5D1-DC17-0557-F9CE486F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B5CEABB6-07DC-46E8-9B57-56EC44A396E5}" type="slidenum">
              <a:rPr lang="fr-FR" smtClean="0"/>
              <a:pPr rtl="0"/>
              <a:t>7</a:t>
            </a:fld>
            <a:endParaRPr lang="fr-FR" dirty="0"/>
          </a:p>
        </p:txBody>
      </p:sp>
      <p:pic>
        <p:nvPicPr>
          <p:cNvPr id="6" name="Image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49B919A3-D705-126F-B72B-2CF3FB7CD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326" y="2226405"/>
            <a:ext cx="5954787" cy="3185477"/>
          </a:xfrm>
          <a:prstGeom prst="rect">
            <a:avLst/>
          </a:prstGeom>
        </p:spPr>
      </p:pic>
      <p:pic>
        <p:nvPicPr>
          <p:cNvPr id="10" name="Image 9" descr="Une image contenant Police, texte, blanc, diagramme&#10;&#10;Le contenu généré par l’IA peut être incorrect.">
            <a:extLst>
              <a:ext uri="{FF2B5EF4-FFF2-40B4-BE49-F238E27FC236}">
                <a16:creationId xmlns:a16="http://schemas.microsoft.com/office/drawing/2014/main" id="{C057ECF0-C96E-44CA-CF76-31B265B86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23" y="2752325"/>
            <a:ext cx="5453019" cy="104292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1355787-BCC1-E107-969C-0E8CAD2904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6219" y="4749547"/>
            <a:ext cx="2190361" cy="332811"/>
          </a:xfrm>
          <a:prstGeom prst="rect">
            <a:avLst/>
          </a:prstGeom>
        </p:spPr>
      </p:pic>
      <p:pic>
        <p:nvPicPr>
          <p:cNvPr id="14" name="Image 13" descr="Une image contenant Police, typographie, blanc, calligraphie&#10;&#10;Le contenu généré par l’IA peut être incorrect.">
            <a:extLst>
              <a:ext uri="{FF2B5EF4-FFF2-40B4-BE49-F238E27FC236}">
                <a16:creationId xmlns:a16="http://schemas.microsoft.com/office/drawing/2014/main" id="{CFBEA7F7-1004-0273-392C-27F019AE55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5266" y="5297610"/>
            <a:ext cx="2312266" cy="46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327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B9045-49A0-AE0B-B7E2-6B021AD2A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CFA5CE-098F-B8EF-1786-3281CBD59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9165336" cy="132651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Le problème : Métriques D’évaluation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BE84A7B-505D-FF1B-624E-C129130CEC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Tests de cohérence :</a:t>
            </a:r>
          </a:p>
          <a:p>
            <a:pPr marL="0" indent="0">
              <a:buNone/>
            </a:pPr>
            <a:r>
              <a:rPr lang="fr-FR" dirty="0"/>
              <a:t>	- cohérence Inter-Rater</a:t>
            </a:r>
          </a:p>
          <a:p>
            <a:pPr marL="0" indent="0">
              <a:buNone/>
            </a:pPr>
            <a:r>
              <a:rPr lang="fr-FR" dirty="0"/>
              <a:t>	- cohérence Inter-Méthode</a:t>
            </a:r>
          </a:p>
          <a:p>
            <a:pPr marL="0" indent="0">
              <a:buNone/>
            </a:pPr>
            <a:r>
              <a:rPr lang="fr-FR" dirty="0"/>
              <a:t>	- cohérence Inter-Période</a:t>
            </a:r>
          </a:p>
          <a:p>
            <a:pPr marL="0" indent="0">
              <a:buNone/>
            </a:pPr>
            <a:r>
              <a:rPr lang="fr-FR" dirty="0"/>
              <a:t>	- sensibilité aux choix de Baseline </a:t>
            </a:r>
          </a:p>
          <a:p>
            <a:endParaRPr lang="fr-FR" dirty="0"/>
          </a:p>
          <a:p>
            <a:r>
              <a:rPr lang="fr-FR" dirty="0"/>
              <a:t>Résultats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6BC0BAC-B4C7-7DB7-B477-6DF7ADE8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B5CEABB6-07DC-46E8-9B57-56EC44A396E5}" type="slidenum">
              <a:rPr lang="fr-FR" smtClean="0"/>
              <a:pPr rtl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5213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441960"/>
            <a:ext cx="5338273" cy="3316893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Les métriques d’évaluation proposées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871510" cy="2197590"/>
          </a:xfrm>
        </p:spPr>
        <p:txBody>
          <a:bodyPr rtlCol="0"/>
          <a:lstStyle>
            <a:defPPr>
              <a:defRPr lang="fr-FR"/>
            </a:defPPr>
          </a:lstStyle>
          <a:p>
            <a:pPr marL="514350" indent="-514350" rtl="0">
              <a:buAutoNum type="arabicPeriod"/>
            </a:pPr>
            <a:r>
              <a:rPr lang="fr-FR" dirty="0"/>
              <a:t>ROAR</a:t>
            </a:r>
          </a:p>
          <a:p>
            <a:pPr marL="514350" indent="-514350" rtl="0">
              <a:buAutoNum type="arabicPeriod"/>
            </a:pPr>
            <a:r>
              <a:rPr lang="fr-FR" dirty="0" err="1"/>
              <a:t>MeGe</a:t>
            </a:r>
            <a:r>
              <a:rPr lang="fr-FR" dirty="0"/>
              <a:t> – </a:t>
            </a:r>
            <a:r>
              <a:rPr lang="fr-FR" dirty="0" err="1"/>
              <a:t>ReCo</a:t>
            </a:r>
            <a:endParaRPr lang="fr-FR" dirty="0"/>
          </a:p>
          <a:p>
            <a:pPr marL="514350" indent="-514350" rtl="0">
              <a:buAutoNum type="arabicPeriod"/>
            </a:pPr>
            <a:r>
              <a:rPr lang="fr-FR" dirty="0" err="1"/>
              <a:t>Quantus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3390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Les métriques d’évaluation proposées : ROAR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35802" y="1827468"/>
            <a:ext cx="5037018" cy="3687763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ROAR (</a:t>
            </a:r>
            <a:r>
              <a:rPr lang="fr-FR" dirty="0" err="1"/>
              <a:t>Remove</a:t>
            </a:r>
            <a:r>
              <a:rPr lang="fr-FR" dirty="0"/>
              <a:t> And </a:t>
            </a:r>
            <a:r>
              <a:rPr lang="fr-FR" dirty="0" err="1"/>
              <a:t>Retrain</a:t>
            </a:r>
            <a:r>
              <a:rPr lang="fr-FR" dirty="0"/>
              <a:t>) : </a:t>
            </a:r>
          </a:p>
          <a:p>
            <a:pPr marL="342900" indent="-342900">
              <a:buFontTx/>
              <a:buChar char="-"/>
            </a:pPr>
            <a:r>
              <a:rPr lang="fr-FR" dirty="0"/>
              <a:t>Choisir les k pixels les plus importants</a:t>
            </a:r>
          </a:p>
          <a:p>
            <a:pPr marL="342900" indent="-342900">
              <a:buFontTx/>
              <a:buChar char="-"/>
            </a:pPr>
            <a:r>
              <a:rPr lang="fr-FR" dirty="0"/>
              <a:t>Remplacer ces pixels par la moyenne</a:t>
            </a:r>
          </a:p>
          <a:p>
            <a:pPr marL="342900" indent="-342900">
              <a:buFontTx/>
              <a:buChar char="-"/>
            </a:pPr>
            <a:r>
              <a:rPr lang="fr-FR" dirty="0"/>
              <a:t>Re-entrainer le modèle sur le nouveau jeu de données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8E5B1204-B9F7-0D66-EBAA-9265C1E3552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1352" y="1711953"/>
            <a:ext cx="4887594" cy="3687763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Intuition :</a:t>
            </a:r>
          </a:p>
          <a:p>
            <a:pPr lvl="1" rtl="0"/>
            <a:r>
              <a:rPr lang="fr-FR" dirty="0"/>
              <a:t>La perte de performance sur l’AOPC n’est-elle pas du à un changement de distribution des images lors de la suppression des pixels ?</a:t>
            </a:r>
          </a:p>
          <a:p>
            <a:pPr lvl="1" rtl="0"/>
            <a:r>
              <a:rPr lang="fr-FR" dirty="0"/>
              <a:t>Avec ROAR on mesure directement l’impact de la méthode d’interprétabilité sans mesurer la perte </a:t>
            </a:r>
            <a:r>
              <a:rPr lang="fr-FR" dirty="0" err="1"/>
              <a:t>dûe</a:t>
            </a:r>
            <a:r>
              <a:rPr lang="fr-FR" dirty="0"/>
              <a:t> à la modification de la distribution des données.</a:t>
            </a:r>
          </a:p>
          <a:p>
            <a:pPr lvl="1" rtl="0"/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B5CEABB6-07DC-46E8-9B57-56EC44A396E5}" type="slidenum">
              <a:rPr lang="fr-FR" smtClean="0"/>
              <a:pPr rtl="0"/>
              <a:t>10</a:t>
            </a:fld>
            <a:endParaRPr lang="fr-FR" dirty="0"/>
          </a:p>
        </p:txBody>
      </p:sp>
      <p:pic>
        <p:nvPicPr>
          <p:cNvPr id="7" name="Image 6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EB646FDA-DD38-1533-96BB-2359298AF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10" y="3790550"/>
            <a:ext cx="4405664" cy="282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471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2A804-F7C6-F3E0-CBE0-0013C70E8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B27723-02B8-4EB6-EC7D-258478390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Les métriques d’évaluation proposées : ROAR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60FC7A0-8755-E698-B39F-8E00717D496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1352" y="1711953"/>
            <a:ext cx="4887594" cy="3687763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Résultats : 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ED90F40-ECBD-67E7-3A2D-E15A1F718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B5CEABB6-07DC-46E8-9B57-56EC44A396E5}" type="slidenum">
              <a:rPr lang="fr-FR" smtClean="0"/>
              <a:pPr rtl="0"/>
              <a:t>11</a:t>
            </a:fld>
            <a:endParaRPr lang="fr-FR" dirty="0"/>
          </a:p>
        </p:txBody>
      </p:sp>
      <p:pic>
        <p:nvPicPr>
          <p:cNvPr id="10" name="Image 9" descr="Une image contenant texte,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3107632B-69F9-0141-A20C-C2C7FE42C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531" y="3844502"/>
            <a:ext cx="6365049" cy="2603089"/>
          </a:xfrm>
          <a:prstGeom prst="rect">
            <a:avLst/>
          </a:prstGeom>
        </p:spPr>
      </p:pic>
      <p:pic>
        <p:nvPicPr>
          <p:cNvPr id="12" name="Image 11" descr="Une image contenant Tracé, lign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0287512B-ADD2-6134-6A6C-D2F342F9C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292" y="1734306"/>
            <a:ext cx="6551525" cy="195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191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A31CE-6F26-96B7-7B63-329007468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BF932F-1F38-16A6-141D-40B0EE055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Les métriques d’évaluation proposées : ROAR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103FCE81-D7D6-5F7F-5516-ADF985BADFA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1352" y="1711953"/>
            <a:ext cx="4887594" cy="3687763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Résultats : 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BCC94C8-70C4-1396-92C4-BA6E7DBB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B5CEABB6-07DC-46E8-9B57-56EC44A396E5}" type="slidenum">
              <a:rPr lang="fr-FR" smtClean="0"/>
              <a:pPr rtl="0"/>
              <a:t>12</a:t>
            </a:fld>
            <a:endParaRPr lang="fr-FR" dirty="0"/>
          </a:p>
        </p:txBody>
      </p:sp>
      <p:pic>
        <p:nvPicPr>
          <p:cNvPr id="6" name="Image 5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7CC9DD7-C346-DFFA-F9BC-95C6B6782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358" y="1530222"/>
            <a:ext cx="7982846" cy="516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777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3F54E4-9956-0B33-D845-8F2AAC5E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37160"/>
            <a:ext cx="12074012" cy="1249680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Les métriques d’évaluation proposées : </a:t>
            </a:r>
            <a:r>
              <a:rPr lang="fr-FR" dirty="0" err="1"/>
              <a:t>Mege</a:t>
            </a:r>
            <a:r>
              <a:rPr lang="fr-FR" dirty="0"/>
              <a:t>-Reco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41392FF-67AF-70B5-1C3C-58D39BDF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B5CEABB6-07DC-46E8-9B57-56EC44A396E5}" type="slidenum">
              <a:rPr lang="fr-FR" smtClean="0"/>
              <a:pPr rtl="0"/>
              <a:t>13</a:t>
            </a:fld>
            <a:endParaRPr lang="fr-FR" dirty="0"/>
          </a:p>
        </p:txBody>
      </p:sp>
      <p:pic>
        <p:nvPicPr>
          <p:cNvPr id="8" name="Image 7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31889330-942E-3621-58E3-510E4B30AE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6397"/>
          <a:stretch>
            <a:fillRect/>
          </a:stretch>
        </p:blipFill>
        <p:spPr>
          <a:xfrm>
            <a:off x="6037007" y="1420329"/>
            <a:ext cx="5330359" cy="459101"/>
          </a:xfrm>
          <a:prstGeom prst="rect">
            <a:avLst/>
          </a:prstGeom>
        </p:spPr>
      </p:pic>
      <p:sp>
        <p:nvSpPr>
          <p:cNvPr id="12" name="Espace réservé du contenu 4">
            <a:extLst>
              <a:ext uri="{FF2B5EF4-FFF2-40B4-BE49-F238E27FC236}">
                <a16:creationId xmlns:a16="http://schemas.microsoft.com/office/drawing/2014/main" id="{FB36D206-D580-510B-60F9-EA737CA2016E}"/>
              </a:ext>
            </a:extLst>
          </p:cNvPr>
          <p:cNvSpPr txBox="1">
            <a:spLocks/>
          </p:cNvSpPr>
          <p:nvPr/>
        </p:nvSpPr>
        <p:spPr>
          <a:xfrm>
            <a:off x="6633189" y="1912920"/>
            <a:ext cx="4887594" cy="5146047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Intuition :</a:t>
            </a:r>
          </a:p>
          <a:p>
            <a:pPr marL="457200" lvl="1" indent="0">
              <a:buNone/>
            </a:pPr>
            <a:r>
              <a:rPr lang="fr-FR" dirty="0"/>
              <a:t>- </a:t>
            </a:r>
            <a:r>
              <a:rPr lang="fr-FR" b="1" dirty="0"/>
              <a:t>Généralisable</a:t>
            </a:r>
            <a:r>
              <a:rPr lang="fr-FR" dirty="0"/>
              <a:t> : une métrique d’interprétabilité devrait pointer vers la même caractéristique pour toutes les images d’une même classe</a:t>
            </a:r>
          </a:p>
          <a:p>
            <a:pPr marL="457200" lvl="1" indent="0">
              <a:buNone/>
            </a:pPr>
            <a:r>
              <a:rPr lang="fr-FR" dirty="0"/>
              <a:t>- </a:t>
            </a:r>
            <a:r>
              <a:rPr lang="fr-FR" b="1" dirty="0"/>
              <a:t>Consistance </a:t>
            </a:r>
            <a:r>
              <a:rPr lang="fr-FR" dirty="0"/>
              <a:t>: lorsque des images de la même catégorie sont mal classées, les explications fiables mettent en évidence des preuves visuelles qui diffèrent de celles utilisées pour les images correctement classées.</a:t>
            </a:r>
          </a:p>
        </p:txBody>
      </p:sp>
      <p:sp>
        <p:nvSpPr>
          <p:cNvPr id="13" name="Espace réservé du contenu 4">
            <a:extLst>
              <a:ext uri="{FF2B5EF4-FFF2-40B4-BE49-F238E27FC236}">
                <a16:creationId xmlns:a16="http://schemas.microsoft.com/office/drawing/2014/main" id="{9B47C701-3CE0-DBF1-F032-DCC5722CCEE9}"/>
              </a:ext>
            </a:extLst>
          </p:cNvPr>
          <p:cNvSpPr txBox="1">
            <a:spLocks/>
          </p:cNvSpPr>
          <p:nvPr/>
        </p:nvSpPr>
        <p:spPr>
          <a:xfrm>
            <a:off x="671218" y="1600685"/>
            <a:ext cx="4887594" cy="5146047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Pourquoi ? :</a:t>
            </a:r>
          </a:p>
          <a:p>
            <a:pPr marL="457200" lvl="1" indent="0">
              <a:buNone/>
            </a:pPr>
            <a:r>
              <a:rPr lang="fr-FR" dirty="0"/>
              <a:t>La fidélité ne suffit pas à elle seule de juger de la qualité d’une interprétabilité.</a:t>
            </a:r>
          </a:p>
        </p:txBody>
      </p:sp>
      <p:pic>
        <p:nvPicPr>
          <p:cNvPr id="15" name="Image 14" descr="Une image contenant text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2728C805-5318-C16D-AFC6-ED7AE296E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986" y="3186581"/>
            <a:ext cx="4033826" cy="353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948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74871-3862-48E9-4AE3-A1945B4D7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011DB3-961B-BACD-B355-9EC6D232D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37160"/>
            <a:ext cx="12074012" cy="1249680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Les métriques d’évaluation proposées : </a:t>
            </a:r>
            <a:r>
              <a:rPr lang="fr-FR" dirty="0" err="1"/>
              <a:t>Mege</a:t>
            </a:r>
            <a:r>
              <a:rPr lang="fr-FR" dirty="0"/>
              <a:t>-Reco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3AAE287-326F-92C2-898C-23161338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B5CEABB6-07DC-46E8-9B57-56EC44A396E5}" type="slidenum">
              <a:rPr lang="fr-FR" smtClean="0"/>
              <a:pPr rtl="0"/>
              <a:t>14</a:t>
            </a:fld>
            <a:endParaRPr lang="fr-FR" dirty="0"/>
          </a:p>
        </p:txBody>
      </p:sp>
      <p:sp>
        <p:nvSpPr>
          <p:cNvPr id="12" name="Espace réservé du contenu 4">
            <a:extLst>
              <a:ext uri="{FF2B5EF4-FFF2-40B4-BE49-F238E27FC236}">
                <a16:creationId xmlns:a16="http://schemas.microsoft.com/office/drawing/2014/main" id="{1DF0A6BF-EE8D-F37E-378F-7B407187F166}"/>
              </a:ext>
            </a:extLst>
          </p:cNvPr>
          <p:cNvSpPr txBox="1">
            <a:spLocks/>
          </p:cNvSpPr>
          <p:nvPr/>
        </p:nvSpPr>
        <p:spPr>
          <a:xfrm>
            <a:off x="911352" y="1711953"/>
            <a:ext cx="4887594" cy="510137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MeGe</a:t>
            </a:r>
            <a:r>
              <a:rPr lang="fr-FR" dirty="0"/>
              <a:t> : </a:t>
            </a:r>
          </a:p>
        </p:txBody>
      </p:sp>
      <p:sp>
        <p:nvSpPr>
          <p:cNvPr id="13" name="Espace réservé du contenu 4">
            <a:extLst>
              <a:ext uri="{FF2B5EF4-FFF2-40B4-BE49-F238E27FC236}">
                <a16:creationId xmlns:a16="http://schemas.microsoft.com/office/drawing/2014/main" id="{FA503071-98BE-7210-17D2-9E2D6C8298FD}"/>
              </a:ext>
            </a:extLst>
          </p:cNvPr>
          <p:cNvSpPr txBox="1">
            <a:spLocks/>
          </p:cNvSpPr>
          <p:nvPr/>
        </p:nvSpPr>
        <p:spPr>
          <a:xfrm>
            <a:off x="6579648" y="1711952"/>
            <a:ext cx="4887594" cy="5146047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ReCo</a:t>
            </a:r>
            <a:r>
              <a:rPr lang="fr-FR" dirty="0"/>
              <a:t> :</a:t>
            </a:r>
          </a:p>
        </p:txBody>
      </p:sp>
      <p:pic>
        <p:nvPicPr>
          <p:cNvPr id="4" name="Image 3" descr="Une image contenant Police, blanc, texte, ligne&#10;&#10;Le contenu généré par l’IA peut être incorrect.">
            <a:extLst>
              <a:ext uri="{FF2B5EF4-FFF2-40B4-BE49-F238E27FC236}">
                <a16:creationId xmlns:a16="http://schemas.microsoft.com/office/drawing/2014/main" id="{55D3ED82-D777-9B16-CF3A-9057C90E0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712" y="2600209"/>
            <a:ext cx="3267531" cy="82879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07962CD-5D42-51D9-B89E-4CD57A973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309" y="3691354"/>
            <a:ext cx="3801005" cy="362001"/>
          </a:xfrm>
          <a:prstGeom prst="rect">
            <a:avLst/>
          </a:prstGeom>
        </p:spPr>
      </p:pic>
      <p:pic>
        <p:nvPicPr>
          <p:cNvPr id="10" name="Image 9" descr="Une image contenant Police, texte, blanc, typographie&#10;&#10;Le contenu généré par l’IA peut être incorrect.">
            <a:extLst>
              <a:ext uri="{FF2B5EF4-FFF2-40B4-BE49-F238E27FC236}">
                <a16:creationId xmlns:a16="http://schemas.microsoft.com/office/drawing/2014/main" id="{B43A9FE0-2712-EDAD-67BA-99864407B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844" y="2669035"/>
            <a:ext cx="4770209" cy="654268"/>
          </a:xfrm>
          <a:prstGeom prst="rect">
            <a:avLst/>
          </a:prstGeom>
        </p:spPr>
      </p:pic>
      <p:pic>
        <p:nvPicPr>
          <p:cNvPr id="16" name="Image 15" descr="Une image contenant Police, blanc, texte, calligraphie&#10;&#10;Le contenu généré par l’IA peut être incorrect.">
            <a:extLst>
              <a:ext uri="{FF2B5EF4-FFF2-40B4-BE49-F238E27FC236}">
                <a16:creationId xmlns:a16="http://schemas.microsoft.com/office/drawing/2014/main" id="{EB2467CD-D58E-C97D-EC0E-345E67081B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8377" y="3569383"/>
            <a:ext cx="3670135" cy="605942"/>
          </a:xfrm>
          <a:prstGeom prst="rect">
            <a:avLst/>
          </a:prstGeom>
        </p:spPr>
      </p:pic>
      <p:pic>
        <p:nvPicPr>
          <p:cNvPr id="18" name="Image 17" descr="Une image contenant Police, blanc, texte, ligne&#10;&#10;Le contenu généré par l’IA peut être incorrect.">
            <a:extLst>
              <a:ext uri="{FF2B5EF4-FFF2-40B4-BE49-F238E27FC236}">
                <a16:creationId xmlns:a16="http://schemas.microsoft.com/office/drawing/2014/main" id="{83EAD990-F7B4-56F4-8729-EC7FCC80A5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8377" y="4347214"/>
            <a:ext cx="3670135" cy="64767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CE566FEE-5A47-35EB-7C07-DEE4114D94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4309" y="4204494"/>
            <a:ext cx="3801005" cy="42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426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B67BF-620F-8F38-AD70-A9DF78463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9F3D9C-A11D-91F4-3D96-34A30354D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37160"/>
            <a:ext cx="12074012" cy="1249680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Les métriques d’évaluation proposées : </a:t>
            </a:r>
            <a:r>
              <a:rPr lang="fr-FR" dirty="0" err="1"/>
              <a:t>Mege</a:t>
            </a:r>
            <a:r>
              <a:rPr lang="fr-FR" dirty="0"/>
              <a:t>-Reco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F29CB30-5AE7-625C-BEED-DECA10B91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B5CEABB6-07DC-46E8-9B57-56EC44A396E5}" type="slidenum">
              <a:rPr lang="fr-FR" smtClean="0"/>
              <a:pPr rtl="0"/>
              <a:t>15</a:t>
            </a:fld>
            <a:endParaRPr lang="fr-FR" dirty="0"/>
          </a:p>
        </p:txBody>
      </p:sp>
      <p:sp>
        <p:nvSpPr>
          <p:cNvPr id="12" name="Espace réservé du contenu 4">
            <a:extLst>
              <a:ext uri="{FF2B5EF4-FFF2-40B4-BE49-F238E27FC236}">
                <a16:creationId xmlns:a16="http://schemas.microsoft.com/office/drawing/2014/main" id="{ACD01EED-818F-0FA8-FCD6-6B4EE651E800}"/>
              </a:ext>
            </a:extLst>
          </p:cNvPr>
          <p:cNvSpPr txBox="1">
            <a:spLocks/>
          </p:cNvSpPr>
          <p:nvPr/>
        </p:nvSpPr>
        <p:spPr>
          <a:xfrm>
            <a:off x="911352" y="1711953"/>
            <a:ext cx="4887594" cy="510137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Les résultats :</a:t>
            </a:r>
          </a:p>
        </p:txBody>
      </p:sp>
      <p:pic>
        <p:nvPicPr>
          <p:cNvPr id="6" name="Image 5" descr="Une image contenant texte, lign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DBD5D22A-AF98-FF41-8910-8C48256E5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961" y="1456700"/>
            <a:ext cx="7613261" cy="534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823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1C883-A2CC-A3AC-8B0B-1485FE940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609FA8-34C3-49FA-8BBF-05F71082A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37160"/>
            <a:ext cx="12074012" cy="1249680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Les métriques d’évaluation proposées : </a:t>
            </a:r>
            <a:r>
              <a:rPr lang="fr-FR" dirty="0" err="1"/>
              <a:t>Mege</a:t>
            </a:r>
            <a:r>
              <a:rPr lang="fr-FR" dirty="0"/>
              <a:t>-Reco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D3AF748-B194-BDF5-B624-6702551EB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B5CEABB6-07DC-46E8-9B57-56EC44A396E5}" type="slidenum">
              <a:rPr lang="fr-FR" smtClean="0"/>
              <a:pPr rtl="0"/>
              <a:t>16</a:t>
            </a:fld>
            <a:endParaRPr lang="fr-FR" dirty="0"/>
          </a:p>
        </p:txBody>
      </p:sp>
      <p:sp>
        <p:nvSpPr>
          <p:cNvPr id="12" name="Espace réservé du contenu 4">
            <a:extLst>
              <a:ext uri="{FF2B5EF4-FFF2-40B4-BE49-F238E27FC236}">
                <a16:creationId xmlns:a16="http://schemas.microsoft.com/office/drawing/2014/main" id="{51504298-222F-6C00-DE82-CFA6B5AA06EA}"/>
              </a:ext>
            </a:extLst>
          </p:cNvPr>
          <p:cNvSpPr txBox="1">
            <a:spLocks/>
          </p:cNvSpPr>
          <p:nvPr/>
        </p:nvSpPr>
        <p:spPr>
          <a:xfrm>
            <a:off x="911352" y="1711953"/>
            <a:ext cx="4887594" cy="510137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Les résultats :</a:t>
            </a:r>
          </a:p>
        </p:txBody>
      </p:sp>
      <p:pic>
        <p:nvPicPr>
          <p:cNvPr id="4" name="Image 3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D997DE69-C0B6-3FC9-07BD-ECC223FDB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60" y="2276695"/>
            <a:ext cx="5096586" cy="1305107"/>
          </a:xfrm>
          <a:prstGeom prst="rect">
            <a:avLst/>
          </a:prstGeom>
        </p:spPr>
      </p:pic>
      <p:pic>
        <p:nvPicPr>
          <p:cNvPr id="8" name="Image 7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D9BAE92B-EAAC-26B1-7EC0-EED311BC8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60" y="4385500"/>
            <a:ext cx="5296639" cy="1057423"/>
          </a:xfrm>
          <a:prstGeom prst="rect">
            <a:avLst/>
          </a:prstGeom>
        </p:spPr>
      </p:pic>
      <p:pic>
        <p:nvPicPr>
          <p:cNvPr id="15" name="Image 14" descr="Une image contenant texte, capture d’écran, Tracé, diagramme&#10;&#10;Le contenu généré par l’IA peut être incorrect.">
            <a:extLst>
              <a:ext uri="{FF2B5EF4-FFF2-40B4-BE49-F238E27FC236}">
                <a16:creationId xmlns:a16="http://schemas.microsoft.com/office/drawing/2014/main" id="{EF41185C-86EE-E519-9511-6068D8C5E6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7192" y="1574793"/>
            <a:ext cx="5146047" cy="514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464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7EC41-3216-B600-112D-CF3D91736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02A879-6D04-BD4A-912A-9C3BAD024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37160"/>
            <a:ext cx="12074012" cy="1249680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Les métriques d’évaluation proposées : </a:t>
            </a:r>
            <a:r>
              <a:rPr lang="fr-FR" dirty="0" err="1"/>
              <a:t>Quantus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C2FC91A-A5B5-CBE0-0514-3CF40C709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B5CEABB6-07DC-46E8-9B57-56EC44A396E5}" type="slidenum">
              <a:rPr lang="fr-FR" smtClean="0"/>
              <a:pPr rtl="0"/>
              <a:t>17</a:t>
            </a:fld>
            <a:endParaRPr lang="fr-FR" dirty="0"/>
          </a:p>
        </p:txBody>
      </p:sp>
      <p:sp>
        <p:nvSpPr>
          <p:cNvPr id="12" name="Espace réservé du contenu 4">
            <a:extLst>
              <a:ext uri="{FF2B5EF4-FFF2-40B4-BE49-F238E27FC236}">
                <a16:creationId xmlns:a16="http://schemas.microsoft.com/office/drawing/2014/main" id="{FE6AA6A1-F511-2AEC-1350-6350CC5438D4}"/>
              </a:ext>
            </a:extLst>
          </p:cNvPr>
          <p:cNvSpPr txBox="1">
            <a:spLocks/>
          </p:cNvSpPr>
          <p:nvPr/>
        </p:nvSpPr>
        <p:spPr>
          <a:xfrm>
            <a:off x="702629" y="1711953"/>
            <a:ext cx="11489371" cy="4899794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Librairie Python 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1800" b="1" dirty="0">
                <a:latin typeface="Arial" panose="020B0604020202020204" pitchFamily="34" charset="0"/>
              </a:rPr>
              <a:t>	- Fidélité :</a:t>
            </a:r>
            <a:r>
              <a:rPr lang="fr-FR" altLang="fr-FR" sz="1800" dirty="0">
                <a:latin typeface="Arial" panose="020B0604020202020204" pitchFamily="34" charset="0"/>
              </a:rPr>
              <a:t> AOPC, la Corrélation de Fidélité, ROAR.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1800" b="1" dirty="0">
                <a:latin typeface="Arial" panose="020B0604020202020204" pitchFamily="34" charset="0"/>
              </a:rPr>
              <a:t>	- Robustesse :</a:t>
            </a:r>
            <a:r>
              <a:rPr lang="fr-FR" altLang="fr-FR" sz="1800" dirty="0">
                <a:latin typeface="Arial" panose="020B0604020202020204" pitchFamily="34" charset="0"/>
              </a:rPr>
              <a:t> Mesure si l'explication change quand on ajoute un bruit imperceptible à l'image.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1800" b="1" dirty="0">
                <a:latin typeface="Arial" panose="020B0604020202020204" pitchFamily="34" charset="0"/>
              </a:rPr>
              <a:t>	- Complexité:</a:t>
            </a:r>
            <a:r>
              <a:rPr lang="fr-FR" altLang="fr-FR" sz="1800" dirty="0">
                <a:latin typeface="Arial" panose="020B0604020202020204" pitchFamily="34" charset="0"/>
              </a:rPr>
              <a:t> Est-ce que l'explication est simple à lire pour un humain ou est-elle trop fragmentée 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1800" b="1" dirty="0">
                <a:latin typeface="Arial" panose="020B0604020202020204" pitchFamily="34" charset="0"/>
              </a:rPr>
              <a:t>	- Localisation :</a:t>
            </a:r>
            <a:r>
              <a:rPr lang="fr-FR" altLang="fr-FR" sz="1800" dirty="0">
                <a:latin typeface="Arial" panose="020B0604020202020204" pitchFamily="34" charset="0"/>
              </a:rPr>
              <a:t> Est-ce que les pixels importants sont bien situés dans la "</a:t>
            </a:r>
            <a:r>
              <a:rPr lang="fr-FR" altLang="fr-FR" sz="1800" dirty="0" err="1">
                <a:latin typeface="Arial" panose="020B0604020202020204" pitchFamily="34" charset="0"/>
              </a:rPr>
              <a:t>bounding</a:t>
            </a:r>
            <a:r>
              <a:rPr lang="fr-FR" altLang="fr-FR" sz="1800" dirty="0">
                <a:latin typeface="Arial" panose="020B0604020202020204" pitchFamily="34" charset="0"/>
              </a:rPr>
              <a:t> box" de l'objet 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1800" b="1" dirty="0">
                <a:latin typeface="Arial" panose="020B0604020202020204" pitchFamily="34" charset="0"/>
              </a:rPr>
              <a:t>	- Randomisation :</a:t>
            </a:r>
            <a:r>
              <a:rPr lang="fr-FR" altLang="fr-FR" sz="1800" dirty="0">
                <a:latin typeface="Arial" panose="020B0604020202020204" pitchFamily="34" charset="0"/>
              </a:rPr>
              <a:t> Checks de Cohérence.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1800" b="1" dirty="0">
                <a:latin typeface="Arial" panose="020B0604020202020204" pitchFamily="34" charset="0"/>
              </a:rPr>
              <a:t>	- Axiomes :</a:t>
            </a:r>
            <a:r>
              <a:rPr lang="fr-FR" altLang="fr-FR" sz="1800" dirty="0">
                <a:latin typeface="Arial" panose="020B0604020202020204" pitchFamily="34" charset="0"/>
              </a:rPr>
              <a:t> Vérifie si la méthode respecte des règles mathématiques de base.</a:t>
            </a:r>
          </a:p>
          <a:p>
            <a:pPr marL="457200" lvl="1" indent="0">
              <a:buNone/>
            </a:pPr>
            <a:endParaRPr lang="fr-FR" dirty="0"/>
          </a:p>
          <a:p>
            <a:pPr lvl="1"/>
            <a:endParaRPr lang="fr-FR" dirty="0"/>
          </a:p>
        </p:txBody>
      </p:sp>
      <p:pic>
        <p:nvPicPr>
          <p:cNvPr id="9" name="Image 8" descr="Une image contenant texte, capture d’écran, Police, logiciel&#10;&#10;Le contenu généré par l’IA peut être incorrect.">
            <a:extLst>
              <a:ext uri="{FF2B5EF4-FFF2-40B4-BE49-F238E27FC236}">
                <a16:creationId xmlns:a16="http://schemas.microsoft.com/office/drawing/2014/main" id="{E742810B-4CA8-389E-9298-F3AE8B1F1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38" y="4044311"/>
            <a:ext cx="4635502" cy="2813689"/>
          </a:xfrm>
          <a:prstGeom prst="rect">
            <a:avLst/>
          </a:prstGeom>
        </p:spPr>
      </p:pic>
      <p:pic>
        <p:nvPicPr>
          <p:cNvPr id="11" name="Image 10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67C80A6C-43F9-383A-F7D2-9E3A4E655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1566" y="4155961"/>
            <a:ext cx="5225212" cy="227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305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DA2AC-0919-27E7-B6AB-0063CE5A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49537A-D5B0-0A01-BAA6-7DDCEA034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441960"/>
            <a:ext cx="5338273" cy="3316893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Les démos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E8B785C-A2E5-A35E-C818-EC4CA36CC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871510" cy="2197590"/>
          </a:xfrm>
        </p:spPr>
        <p:txBody>
          <a:bodyPr rtlCol="0"/>
          <a:lstStyle>
            <a:defPPr>
              <a:defRPr lang="fr-FR"/>
            </a:defPPr>
          </a:lstStyle>
          <a:p>
            <a:pPr marL="514350" indent="-514350" rtl="0">
              <a:buAutoNum type="arabicPeriod"/>
            </a:pPr>
            <a:r>
              <a:rPr lang="fr-FR" dirty="0"/>
              <a:t>Aides au cours</a:t>
            </a:r>
          </a:p>
          <a:p>
            <a:pPr marL="514350" indent="-514350" rtl="0">
              <a:buAutoNum type="arabicPeriod"/>
            </a:pPr>
            <a:r>
              <a:rPr lang="fr-FR" dirty="0"/>
              <a:t>Extensions</a:t>
            </a:r>
          </a:p>
        </p:txBody>
      </p:sp>
    </p:spTree>
    <p:extLst>
      <p:ext uri="{BB962C8B-B14F-4D97-AF65-F5344CB8AC3E}">
        <p14:creationId xmlns:p14="http://schemas.microsoft.com/office/powerpoint/2010/main" val="2666198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A9C5DD-6B55-DF45-4C6B-6B767B71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Conclusion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849FABB-E5A7-5275-61DB-17B427E9C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B5CEABB6-07DC-46E8-9B57-56EC44A396E5}" type="slidenum">
              <a:rPr lang="fr-FR" smtClean="0"/>
              <a:pPr rtl="0"/>
              <a:t>19</a:t>
            </a:fld>
            <a:endParaRPr lang="fr-FR" dirty="0"/>
          </a:p>
        </p:txBody>
      </p:sp>
      <p:pic>
        <p:nvPicPr>
          <p:cNvPr id="8" name="Espace réservé du contenu 7" descr="Une image contenant texte, capture d’écran, Police, lettre&#10;&#10;Le contenu généré par l’IA peut être incorrect.">
            <a:extLst>
              <a:ext uri="{FF2B5EF4-FFF2-40B4-BE49-F238E27FC236}">
                <a16:creationId xmlns:a16="http://schemas.microsoft.com/office/drawing/2014/main" id="{FF4E1C4E-51E8-5605-FAC4-BF6641F2D1CE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6799634" y="1399032"/>
            <a:ext cx="4498604" cy="3925887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A91DB55-5CF2-B7AE-A0A1-3FA8448EE8F2}"/>
              </a:ext>
            </a:extLst>
          </p:cNvPr>
          <p:cNvSpPr txBox="1"/>
          <p:nvPr/>
        </p:nvSpPr>
        <p:spPr>
          <a:xfrm>
            <a:off x="622998" y="2411604"/>
            <a:ext cx="518494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/>
              <a:t>L’importance des Checks de Cohérence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Le ROAR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En plus de la fidélité </a:t>
            </a:r>
            <a:r>
              <a:rPr lang="fr-FR" dirty="0" err="1"/>
              <a:t>MeGe</a:t>
            </a:r>
            <a:r>
              <a:rPr lang="fr-FR" dirty="0"/>
              <a:t>, </a:t>
            </a:r>
            <a:r>
              <a:rPr lang="fr-FR" dirty="0" err="1"/>
              <a:t>ReCo</a:t>
            </a: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Une librairie python : </a:t>
            </a:r>
            <a:r>
              <a:rPr lang="fr-FR" dirty="0" err="1"/>
              <a:t>Quantus</a:t>
            </a:r>
            <a:r>
              <a:rPr lang="fr-FR" dirty="0"/>
              <a:t>.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Ouverture : utiliser des algorithmes qui sont interprétables</a:t>
            </a:r>
          </a:p>
        </p:txBody>
      </p:sp>
    </p:spTree>
    <p:extLst>
      <p:ext uri="{BB962C8B-B14F-4D97-AF65-F5344CB8AC3E}">
        <p14:creationId xmlns:p14="http://schemas.microsoft.com/office/powerpoint/2010/main" val="2981044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Merci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2448" y="5423952"/>
            <a:ext cx="5794248" cy="929032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dirty="0"/>
              <a:t>Thibault SOURDEVAL</a:t>
            </a:r>
          </a:p>
          <a:p>
            <a:pPr rtl="0"/>
            <a:r>
              <a:rPr lang="fr-FR" dirty="0"/>
              <a:t>2026 – SDD – ISAE-SUPAERO</a:t>
            </a:r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42494_TF16411248_Win32" id="{2EDB2FE5-7689-4146-8179-5A3B6AE9058C}" vid="{73B341AD-CE54-4EAE-8CFA-CC59499255F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{572B8806-B32D-4892-A18C-942DF68232D2}TFb05bf529-a1dc-42d5-b9d6-8a1e9569dd9c2ec8e62b_win32-65c86ce98808</Template>
  <TotalTime>1725</TotalTime>
  <Words>535</Words>
  <Application>Microsoft Office PowerPoint</Application>
  <PresentationFormat>Grand écran</PresentationFormat>
  <Paragraphs>143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Arial</vt:lpstr>
      <vt:lpstr>Avenir Next LT Pro Light</vt:lpstr>
      <vt:lpstr>Calibri</vt:lpstr>
      <vt:lpstr>Posterama</vt:lpstr>
      <vt:lpstr>Personnalisé</vt:lpstr>
      <vt:lpstr>Qualité des explications en Deep Neural Networks</vt:lpstr>
      <vt:lpstr>Ordre du jour </vt:lpstr>
      <vt:lpstr>Introduction</vt:lpstr>
      <vt:lpstr>Le problème</vt:lpstr>
      <vt:lpstr>Le problème : Métriques d’interprétabilité</vt:lpstr>
      <vt:lpstr>Le problème : Métriques d’interprétabilité</vt:lpstr>
      <vt:lpstr>Le problème : Métriques D’évaluation</vt:lpstr>
      <vt:lpstr>Le problème : Métriques D’évaluation</vt:lpstr>
      <vt:lpstr>Les métriques d’évaluation proposées</vt:lpstr>
      <vt:lpstr>Les métriques d’évaluation proposées : ROAR</vt:lpstr>
      <vt:lpstr>Les métriques d’évaluation proposées : ROAR</vt:lpstr>
      <vt:lpstr>Les métriques d’évaluation proposées : ROAR</vt:lpstr>
      <vt:lpstr>Les métriques d’évaluation proposées : Mege-Reco</vt:lpstr>
      <vt:lpstr>Les métriques d’évaluation proposées : Mege-Reco</vt:lpstr>
      <vt:lpstr>Les métriques d’évaluation proposées : Mege-Reco</vt:lpstr>
      <vt:lpstr>Les métriques d’évaluation proposées : Mege-Reco</vt:lpstr>
      <vt:lpstr>Les métriques d’évaluation proposées : Quantus</vt:lpstr>
      <vt:lpstr>Les démos</vt:lpstr>
      <vt:lpstr>Conclusion</vt:lpstr>
      <vt:lpstr>Merci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Thibault SOURDEVAL</dc:creator>
  <cp:lastModifiedBy>Thibault SOURDEVAL</cp:lastModifiedBy>
  <cp:revision>12</cp:revision>
  <dcterms:created xsi:type="dcterms:W3CDTF">2026-01-29T18:17:52Z</dcterms:created>
  <dcterms:modified xsi:type="dcterms:W3CDTF">2026-02-01T12:51:32Z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